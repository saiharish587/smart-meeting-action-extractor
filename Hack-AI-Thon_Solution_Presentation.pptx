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4428D-5941-4A61-A577-FAC7CE696506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D85C3-A503-4885-9E41-C9980C9855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8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E5308-EC61-0E82-5318-2E5467E0B3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4594" y="5876215"/>
            <a:ext cx="1318963" cy="818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F3739A-EEDD-E920-B64C-4BAF42FE11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74594" y="163118"/>
            <a:ext cx="1290881" cy="573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CF6EF-51B3-F9BF-653F-611F4D6619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0911" y="5856565"/>
            <a:ext cx="1514686" cy="838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6BA7EB-F111-8C47-C6DE-856C431C5918}"/>
              </a:ext>
            </a:extLst>
          </p:cNvPr>
          <p:cNvSpPr txBox="1"/>
          <p:nvPr userDrawn="1"/>
        </p:nvSpPr>
        <p:spPr>
          <a:xfrm>
            <a:off x="3823854" y="6371716"/>
            <a:ext cx="4544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>
                <a:effectLst/>
                <a:latin typeface="+mn-lt"/>
              </a:rPr>
              <a:t>© 2026 Infosys Limited. All rights reserved. </a:t>
            </a:r>
          </a:p>
          <a:p>
            <a:endParaRPr lang="en-US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F7831-804B-72A5-6574-FDC83C72188C}"/>
              </a:ext>
            </a:extLst>
          </p:cNvPr>
          <p:cNvSpPr txBox="1"/>
          <p:nvPr/>
        </p:nvSpPr>
        <p:spPr>
          <a:xfrm>
            <a:off x="1939636" y="1842655"/>
            <a:ext cx="846512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Hack-AI-Thon</a:t>
            </a:r>
          </a:p>
          <a:p>
            <a:endParaRPr lang="en-US" dirty="0"/>
          </a:p>
          <a:p>
            <a:r>
              <a:rPr lang="en-US" sz="2800" dirty="0"/>
              <a:t>Solution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6943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3C5638-F773-A35E-B550-DEDD6A48FF1D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Introduction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449A72-43FB-5240-7790-5D50EFB89B5D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0:20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C06E83-2D18-2697-77D8-1766EDC40708}"/>
              </a:ext>
            </a:extLst>
          </p:cNvPr>
          <p:cNvSpPr/>
          <p:nvPr/>
        </p:nvSpPr>
        <p:spPr>
          <a:xfrm>
            <a:off x="566928" y="1133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7CC3"/>
                </a:solidFill>
              </a:rPr>
              <a:t>HACK-AI-THON 2026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341152-32E0-DDA7-8E39-55C4BAD49756}"/>
              </a:ext>
            </a:extLst>
          </p:cNvPr>
          <p:cNvSpPr/>
          <p:nvPr/>
        </p:nvSpPr>
        <p:spPr>
          <a:xfrm>
            <a:off x="566928" y="1472184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3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 FORCE</a:t>
            </a:r>
            <a:endParaRPr lang="en-US" sz="3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239C95B-BCA9-CD44-D0BC-9ADFEFE95C8C}"/>
              </a:ext>
            </a:extLst>
          </p:cNvPr>
          <p:cNvSpPr/>
          <p:nvPr/>
        </p:nvSpPr>
        <p:spPr>
          <a:xfrm>
            <a:off x="7635240" y="1261872"/>
            <a:ext cx="40690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ACF21D-B3D5-FAC8-B6C3-71127CBEF29B}"/>
              </a:ext>
            </a:extLst>
          </p:cNvPr>
          <p:cNvSpPr/>
          <p:nvPr/>
        </p:nvSpPr>
        <p:spPr>
          <a:xfrm>
            <a:off x="7799832" y="1389888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COLLEGE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BAB699-72FC-A681-8C0C-72043C517529}"/>
              </a:ext>
            </a:extLst>
          </p:cNvPr>
          <p:cNvSpPr/>
          <p:nvPr/>
        </p:nvSpPr>
        <p:spPr>
          <a:xfrm>
            <a:off x="7699248" y="1655064"/>
            <a:ext cx="393649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[B V RAJU INSTITUTE OF TECHNOLOGY | NARSAPUR]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770BAD-2716-4762-7A11-4FAEBA04353A}"/>
              </a:ext>
            </a:extLst>
          </p:cNvPr>
          <p:cNvSpPr/>
          <p:nvPr/>
        </p:nvSpPr>
        <p:spPr>
          <a:xfrm>
            <a:off x="7635240" y="2395728"/>
            <a:ext cx="4069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70026C-EA6C-6AEB-1F32-DC1449CBB31E}"/>
              </a:ext>
            </a:extLst>
          </p:cNvPr>
          <p:cNvSpPr/>
          <p:nvPr/>
        </p:nvSpPr>
        <p:spPr>
          <a:xfrm>
            <a:off x="7799832" y="2523744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TEAM MEMBERS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53965F-8EB4-9570-D88A-5B5E958088E1}"/>
              </a:ext>
            </a:extLst>
          </p:cNvPr>
          <p:cNvSpPr/>
          <p:nvPr/>
        </p:nvSpPr>
        <p:spPr>
          <a:xfrm>
            <a:off x="7799832" y="2788920"/>
            <a:ext cx="373989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B SAI PREETHAM • K ABHILASH  •  P SAI HARISH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634997F-2956-81EC-37B8-43AB96F19087}"/>
              </a:ext>
            </a:extLst>
          </p:cNvPr>
          <p:cNvSpPr/>
          <p:nvPr/>
        </p:nvSpPr>
        <p:spPr>
          <a:xfrm>
            <a:off x="290509" y="3557016"/>
            <a:ext cx="4709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622B7B-239A-CE6B-DB89-A38E2DBB780D}"/>
              </a:ext>
            </a:extLst>
          </p:cNvPr>
          <p:cNvSpPr/>
          <p:nvPr/>
        </p:nvSpPr>
        <p:spPr>
          <a:xfrm>
            <a:off x="455101" y="3685032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SELECTED PROBLEM STATEMENT</a:t>
            </a:r>
            <a:endParaRPr lang="en-US" sz="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D9DE2A7-5A43-E453-A85B-37D123EB5DAF}"/>
              </a:ext>
            </a:extLst>
          </p:cNvPr>
          <p:cNvSpPr/>
          <p:nvPr/>
        </p:nvSpPr>
        <p:spPr>
          <a:xfrm>
            <a:off x="455101" y="3950208"/>
            <a:ext cx="4379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EP-01 — Smart Meeting Action Extractor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E5967C-DB75-3EAB-EFE9-2844FA56498A}"/>
              </a:ext>
            </a:extLst>
          </p:cNvPr>
          <p:cNvGrpSpPr/>
          <p:nvPr/>
        </p:nvGrpSpPr>
        <p:grpSpPr>
          <a:xfrm>
            <a:off x="7635240" y="3547872"/>
            <a:ext cx="2615184" cy="841248"/>
            <a:chOff x="7635240" y="3906737"/>
            <a:chExt cx="2615184" cy="841248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7BE944F7-38B5-64C7-930D-B72927FC746D}"/>
                </a:ext>
              </a:extLst>
            </p:cNvPr>
            <p:cNvSpPr/>
            <p:nvPr/>
          </p:nvSpPr>
          <p:spPr>
            <a:xfrm>
              <a:off x="7635240" y="3906737"/>
              <a:ext cx="2615184" cy="841248"/>
            </a:xfrm>
            <a:prstGeom prst="roundRect">
              <a:avLst>
                <a:gd name="adj" fmla="val 5435"/>
              </a:avLst>
            </a:prstGeom>
            <a:solidFill>
              <a:srgbClr val="FFFFFF"/>
            </a:solidFill>
            <a:ln w="12700">
              <a:solidFill>
                <a:srgbClr val="DCE5EC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ADC5DEF7-8576-092D-9F96-DAD18B227F78}"/>
                </a:ext>
              </a:extLst>
            </p:cNvPr>
            <p:cNvSpPr/>
            <p:nvPr/>
          </p:nvSpPr>
          <p:spPr>
            <a:xfrm>
              <a:off x="7799832" y="4034753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kern="0" spc="70" dirty="0">
                  <a:solidFill>
                    <a:srgbClr val="5417A8"/>
                  </a:solidFill>
                </a:rPr>
                <a:t>TECHNOLOGY TRACK</a:t>
              </a:r>
              <a:endParaRPr lang="en-US" sz="8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E89A6BC1-C284-CB71-9496-E1F2258424E1}"/>
                </a:ext>
              </a:extLst>
            </p:cNvPr>
            <p:cNvSpPr/>
            <p:nvPr/>
          </p:nvSpPr>
          <p:spPr>
            <a:xfrm>
              <a:off x="7799832" y="4299929"/>
              <a:ext cx="2286000" cy="32918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r>
                <a:rPr lang="en-IN" sz="1200" dirty="0"/>
                <a:t>Qualcomm Cloud AI Playground</a:t>
              </a:r>
            </a:p>
          </p:txBody>
        </p:sp>
      </p:grp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7F0826ED-9BAD-C2DB-5431-D299FF747B6E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2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052623C-23F0-F8E2-64EB-111E89A6EDBA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6B4950A-3E35-1583-F0FA-3FA18DF704FF}"/>
              </a:ext>
            </a:extLst>
          </p:cNvPr>
          <p:cNvSpPr/>
          <p:nvPr/>
        </p:nvSpPr>
        <p:spPr>
          <a:xfrm>
            <a:off x="713232" y="1243584"/>
            <a:ext cx="6483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ACTUAL PROBLEM STATEMENT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28330B-AECD-6684-FE9B-DCE13D39A099}"/>
              </a:ext>
            </a:extLst>
          </p:cNvPr>
          <p:cNvSpPr/>
          <p:nvPr/>
        </p:nvSpPr>
        <p:spPr>
          <a:xfrm>
            <a:off x="713232" y="1508760"/>
            <a:ext cx="64830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2000" dirty="0"/>
              <a:t>Convert messy meeting notes into decisions, action items, owners, due dates, and risks.</a:t>
            </a:r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871A307-2145-F941-36B5-7FB8E48AF6A3}"/>
              </a:ext>
            </a:extLst>
          </p:cNvPr>
          <p:cNvSpPr/>
          <p:nvPr/>
        </p:nvSpPr>
        <p:spPr>
          <a:xfrm>
            <a:off x="7735824" y="124358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WHO IS AFFECTED?</a:t>
            </a:r>
            <a:endParaRPr lang="en-US" sz="8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E1E736B-0A2D-B024-1EB0-12A200895AC2}"/>
              </a:ext>
            </a:extLst>
          </p:cNvPr>
          <p:cNvSpPr/>
          <p:nvPr/>
        </p:nvSpPr>
        <p:spPr>
          <a:xfrm>
            <a:off x="7735824" y="1508760"/>
            <a:ext cx="3803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lvl="0"/>
            <a:r>
              <a:rPr lang="en-IN" sz="1200" dirty="0"/>
              <a:t>Students and project teams</a:t>
            </a:r>
          </a:p>
          <a:p>
            <a:pPr lvl="0"/>
            <a:r>
              <a:rPr lang="en-IN" sz="1200" dirty="0"/>
              <a:t>Meeting organizers</a:t>
            </a:r>
          </a:p>
          <a:p>
            <a:pPr lvl="0"/>
            <a:r>
              <a:rPr lang="en-IN" sz="1200" dirty="0"/>
              <a:t>Team leaders and managers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073DFEC-DABB-CC2B-0BA9-871FADDBD8B2}"/>
              </a:ext>
            </a:extLst>
          </p:cNvPr>
          <p:cNvSpPr/>
          <p:nvPr/>
        </p:nvSpPr>
        <p:spPr>
          <a:xfrm>
            <a:off x="7735824" y="234086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63A845"/>
                </a:solidFill>
              </a:rPr>
              <a:t>WHY DOES IT MATTER?</a:t>
            </a:r>
            <a:endParaRPr lang="en-US" sz="8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2C115EF-03A4-A284-3C57-500DFF669693}"/>
              </a:ext>
            </a:extLst>
          </p:cNvPr>
          <p:cNvSpPr/>
          <p:nvPr/>
        </p:nvSpPr>
        <p:spPr>
          <a:xfrm>
            <a:off x="7735824" y="2606040"/>
            <a:ext cx="3803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A lack of clear action items can lead to confusion, missed deadlines, duplicated work, and reduced productivity.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F43253D-9704-E340-ABBE-3C6F52C216CD}"/>
              </a:ext>
            </a:extLst>
          </p:cNvPr>
          <p:cNvSpPr/>
          <p:nvPr/>
        </p:nvSpPr>
        <p:spPr>
          <a:xfrm>
            <a:off x="713232" y="270662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CURRENT GAP / PAIN POINT</a:t>
            </a:r>
            <a:endParaRPr lang="en-US" sz="8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B3CD632-0098-5E4B-5432-77CD2893CAF3}"/>
              </a:ext>
            </a:extLst>
          </p:cNvPr>
          <p:cNvSpPr/>
          <p:nvPr/>
        </p:nvSpPr>
        <p:spPr>
          <a:xfrm>
            <a:off x="713232" y="2971800"/>
            <a:ext cx="3063240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Meeting notes are often lengthy and unstructured.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Important decisions and tasks can be overlooked.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Manually identifying responsibilities and deadlines takes time.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Follow-up actions may be missed.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5F37750-2660-1AD0-F71B-75255FDEFAB9}"/>
              </a:ext>
            </a:extLst>
          </p:cNvPr>
          <p:cNvSpPr/>
          <p:nvPr/>
        </p:nvSpPr>
        <p:spPr>
          <a:xfrm>
            <a:off x="4123944" y="270662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EVIDENCE / SCENARIO</a:t>
            </a:r>
            <a:endParaRPr lang="en-US" sz="85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24B9B85-9810-1D16-1FED-578C00F4DF52}"/>
              </a:ext>
            </a:extLst>
          </p:cNvPr>
          <p:cNvSpPr/>
          <p:nvPr/>
        </p:nvSpPr>
        <p:spPr>
          <a:xfrm>
            <a:off x="4123944" y="2971799"/>
            <a:ext cx="3200400" cy="11064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After a project meeting, the team has lengthy notes containing discussions, decisions, and pending work. Members must manually review the notes to identify who should do what and by when.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355BF79-944B-C7CD-13BE-B68144B0EC3D}"/>
              </a:ext>
            </a:extLst>
          </p:cNvPr>
          <p:cNvSpPr/>
          <p:nvPr/>
        </p:nvSpPr>
        <p:spPr>
          <a:xfrm>
            <a:off x="7735824" y="343814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SUCCESS DEFINITION</a:t>
            </a:r>
            <a:endParaRPr lang="en-US" sz="85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C74A84FE-3AA0-3CCB-062C-D940850ADC68}"/>
              </a:ext>
            </a:extLst>
          </p:cNvPr>
          <p:cNvSpPr/>
          <p:nvPr/>
        </p:nvSpPr>
        <p:spPr>
          <a:xfrm>
            <a:off x="7735824" y="3703320"/>
            <a:ext cx="3867912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The prototype converts sample meeting notes into a clear summary, key decisions, a structured action-item table, and flags for missing information and potential risks.</a:t>
            </a:r>
          </a:p>
        </p:txBody>
      </p:sp>
    </p:spTree>
    <p:extLst>
      <p:ext uri="{BB962C8B-B14F-4D97-AF65-F5344CB8AC3E}">
        <p14:creationId xmlns:p14="http://schemas.microsoft.com/office/powerpoint/2010/main" val="16486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C67777A0-5038-444E-6934-D05CAB3438E6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1441BD2-AB6B-3DF0-0186-49A3CEED3D65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0:55</a:t>
            </a:r>
            <a:endParaRPr lang="en-US" sz="85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02F5BF56-0B35-42DC-FC64-F0F7939FA4C0}"/>
              </a:ext>
            </a:extLst>
          </p:cNvPr>
          <p:cNvSpPr/>
          <p:nvPr/>
        </p:nvSpPr>
        <p:spPr>
          <a:xfrm>
            <a:off x="548640" y="1097280"/>
            <a:ext cx="1093012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E4182E2-5F1E-299E-4614-A89A59E0015E}"/>
              </a:ext>
            </a:extLst>
          </p:cNvPr>
          <p:cNvSpPr/>
          <p:nvPr/>
        </p:nvSpPr>
        <p:spPr>
          <a:xfrm>
            <a:off x="713232" y="1225296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SOLUTION IN ONE SENTENCE</a:t>
            </a:r>
            <a:endParaRPr lang="en-US" sz="85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8AE62DF-DB97-F3CF-1EC2-0ACDD449B30C}"/>
              </a:ext>
            </a:extLst>
          </p:cNvPr>
          <p:cNvSpPr/>
          <p:nvPr/>
        </p:nvSpPr>
        <p:spPr>
          <a:xfrm>
            <a:off x="713232" y="1490472"/>
            <a:ext cx="108264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IN" sz="1500" dirty="0"/>
              <a:t>uses AI to transform unstructured meeting notes into concise summaries and actionable tasks, improving clarity, accountability, and productivity.</a:t>
            </a: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371B941B-C86F-0BE1-920C-2A9E692B7C56}"/>
              </a:ext>
            </a:extLst>
          </p:cNvPr>
          <p:cNvSpPr/>
          <p:nvPr/>
        </p:nvSpPr>
        <p:spPr>
          <a:xfrm>
            <a:off x="658368" y="2121408"/>
            <a:ext cx="3319272" cy="1993392"/>
          </a:xfrm>
          <a:prstGeom prst="roundRect">
            <a:avLst>
              <a:gd name="adj" fmla="val 2294"/>
            </a:avLst>
          </a:prstGeom>
          <a:solidFill>
            <a:srgbClr val="EAF7FD"/>
          </a:solidFill>
          <a:ln w="1524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4A98571-1AFC-F292-9D09-AD0A4A068AE6}"/>
              </a:ext>
            </a:extLst>
          </p:cNvPr>
          <p:cNvSpPr/>
          <p:nvPr/>
        </p:nvSpPr>
        <p:spPr>
          <a:xfrm>
            <a:off x="822960" y="2313432"/>
            <a:ext cx="420624" cy="420624"/>
          </a:xfrm>
          <a:prstGeom prst="ellipse">
            <a:avLst/>
          </a:prstGeom>
          <a:solidFill>
            <a:srgbClr val="007C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0C7AF9D-3541-089A-5E6B-56FCA466CCA5}"/>
              </a:ext>
            </a:extLst>
          </p:cNvPr>
          <p:cNvSpPr/>
          <p:nvPr/>
        </p:nvSpPr>
        <p:spPr>
          <a:xfrm>
            <a:off x="822960" y="24231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C1F7D41-1CDE-9DAC-EBC0-815C1D289558}"/>
              </a:ext>
            </a:extLst>
          </p:cNvPr>
          <p:cNvSpPr/>
          <p:nvPr/>
        </p:nvSpPr>
        <p:spPr>
          <a:xfrm>
            <a:off x="1371600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INPUT</a:t>
            </a:r>
            <a:endParaRPr lang="en-US" sz="12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8E5604C-41B6-CF70-B0D8-4244465C2130}"/>
              </a:ext>
            </a:extLst>
          </p:cNvPr>
          <p:cNvSpPr/>
          <p:nvPr/>
        </p:nvSpPr>
        <p:spPr>
          <a:xfrm>
            <a:off x="841248" y="2889504"/>
            <a:ext cx="3026664" cy="10683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Meeting notes or transcript text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Discussion points and decisions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Task descriptions and deadlines mentioned in the notes</a:t>
            </a: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6B2181D-543C-938E-9D4D-565CB48A781A}"/>
              </a:ext>
            </a:extLst>
          </p:cNvPr>
          <p:cNvSpPr/>
          <p:nvPr/>
        </p:nvSpPr>
        <p:spPr>
          <a:xfrm>
            <a:off x="4059936" y="277977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CC3"/>
                </a:solidFill>
              </a:rPr>
              <a:t>›</a:t>
            </a:r>
            <a:endParaRPr lang="en-US" sz="26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F83C9B4A-5248-7ACA-C711-E148A2B6A329}"/>
              </a:ext>
            </a:extLst>
          </p:cNvPr>
          <p:cNvSpPr/>
          <p:nvPr/>
        </p:nvSpPr>
        <p:spPr>
          <a:xfrm>
            <a:off x="4370832" y="2121408"/>
            <a:ext cx="3319272" cy="1993392"/>
          </a:xfrm>
          <a:prstGeom prst="roundRect">
            <a:avLst>
              <a:gd name="adj" fmla="val 2294"/>
            </a:avLst>
          </a:prstGeom>
          <a:solidFill>
            <a:srgbClr val="F3EEFC"/>
          </a:solidFill>
          <a:ln w="1524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3269B93A-F82B-3E8E-342E-8A1E7011E71B}"/>
              </a:ext>
            </a:extLst>
          </p:cNvPr>
          <p:cNvSpPr/>
          <p:nvPr/>
        </p:nvSpPr>
        <p:spPr>
          <a:xfrm>
            <a:off x="4535424" y="2313432"/>
            <a:ext cx="420624" cy="420624"/>
          </a:xfrm>
          <a:prstGeom prst="ellipse">
            <a:avLst/>
          </a:prstGeom>
          <a:solidFill>
            <a:srgbClr val="5417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9A002D95-7166-212D-1C2F-622F6CBAB794}"/>
              </a:ext>
            </a:extLst>
          </p:cNvPr>
          <p:cNvSpPr/>
          <p:nvPr/>
        </p:nvSpPr>
        <p:spPr>
          <a:xfrm>
            <a:off x="4535424" y="24231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27141539-8D6F-3A4F-E553-2FA9E02C8629}"/>
              </a:ext>
            </a:extLst>
          </p:cNvPr>
          <p:cNvSpPr/>
          <p:nvPr/>
        </p:nvSpPr>
        <p:spPr>
          <a:xfrm>
            <a:off x="5084064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PROCESS</a:t>
            </a:r>
            <a:endParaRPr lang="en-US" sz="12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6644E157-AD38-7252-7CFB-3C77C815A5BF}"/>
              </a:ext>
            </a:extLst>
          </p:cNvPr>
          <p:cNvSpPr/>
          <p:nvPr/>
        </p:nvSpPr>
        <p:spPr>
          <a:xfrm>
            <a:off x="4553712" y="2779776"/>
            <a:ext cx="3026664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Analyze</a:t>
            </a:r>
            <a:r>
              <a:rPr lang="en-IN" sz="1400" dirty="0"/>
              <a:t> and summarize the meeting notes.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Extract key decisions.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Identify action items and responsible people.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Detect deadlines and potential risks.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Flag missing or unclear information.</a:t>
            </a: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38C41653-B839-6E76-43DB-17B2C663CB71}"/>
              </a:ext>
            </a:extLst>
          </p:cNvPr>
          <p:cNvSpPr/>
          <p:nvPr/>
        </p:nvSpPr>
        <p:spPr>
          <a:xfrm>
            <a:off x="7772400" y="277977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CC3"/>
                </a:solidFill>
              </a:rPr>
              <a:t>›</a:t>
            </a:r>
            <a:endParaRPr lang="en-US" sz="260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03B724BB-CD71-068B-CF5C-B061FDF3330C}"/>
              </a:ext>
            </a:extLst>
          </p:cNvPr>
          <p:cNvSpPr/>
          <p:nvPr/>
        </p:nvSpPr>
        <p:spPr>
          <a:xfrm>
            <a:off x="8083296" y="2121408"/>
            <a:ext cx="3319272" cy="1993392"/>
          </a:xfrm>
          <a:prstGeom prst="roundRect">
            <a:avLst>
              <a:gd name="adj" fmla="val 2294"/>
            </a:avLst>
          </a:prstGeom>
          <a:solidFill>
            <a:srgbClr val="EFF7E9"/>
          </a:solidFill>
          <a:ln w="1524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B6C195CA-E36C-C6E9-5728-77ADC354632A}"/>
              </a:ext>
            </a:extLst>
          </p:cNvPr>
          <p:cNvSpPr/>
          <p:nvPr/>
        </p:nvSpPr>
        <p:spPr>
          <a:xfrm>
            <a:off x="8247888" y="2313432"/>
            <a:ext cx="420624" cy="420624"/>
          </a:xfrm>
          <a:prstGeom prst="ellipse">
            <a:avLst/>
          </a:prstGeom>
          <a:solidFill>
            <a:srgbClr val="63A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FF0E0EEF-14EA-FC6A-9783-D69F6266522A}"/>
              </a:ext>
            </a:extLst>
          </p:cNvPr>
          <p:cNvSpPr/>
          <p:nvPr/>
        </p:nvSpPr>
        <p:spPr>
          <a:xfrm>
            <a:off x="8247888" y="24231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FCDA84A9-3946-E20D-B806-C000556594E5}"/>
              </a:ext>
            </a:extLst>
          </p:cNvPr>
          <p:cNvSpPr/>
          <p:nvPr/>
        </p:nvSpPr>
        <p:spPr>
          <a:xfrm>
            <a:off x="8796528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OUTPUT</a:t>
            </a:r>
            <a:endParaRPr lang="en-US" sz="12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BE1C7975-0A5B-A11B-FFE7-40F40E440F07}"/>
              </a:ext>
            </a:extLst>
          </p:cNvPr>
          <p:cNvSpPr/>
          <p:nvPr/>
        </p:nvSpPr>
        <p:spPr>
          <a:xfrm>
            <a:off x="8266176" y="2688336"/>
            <a:ext cx="2916936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Meeting summary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Key decisions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Action-item table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Task owners and due dates</a:t>
            </a:r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2387BDDC-1FD1-94F9-88EA-B1B1A5476958}"/>
              </a:ext>
            </a:extLst>
          </p:cNvPr>
          <p:cNvSpPr/>
          <p:nvPr/>
        </p:nvSpPr>
        <p:spPr>
          <a:xfrm>
            <a:off x="576072" y="4681728"/>
            <a:ext cx="10826496" cy="1078992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r>
              <a:rPr lang="en-IN"/>
              <a:t>A single workflow converts lengthy notes into organized, actionable information. The system distinguishes information explicitly stated in the notes from missing details that require human confirmation.</a:t>
            </a:r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88642670-7401-6942-FA9F-B4B48641D49E}"/>
              </a:ext>
            </a:extLst>
          </p:cNvPr>
          <p:cNvSpPr/>
          <p:nvPr/>
        </p:nvSpPr>
        <p:spPr>
          <a:xfrm>
            <a:off x="713232" y="4517136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KEY VALUE / DIFFERENTIATOR</a:t>
            </a:r>
            <a:endParaRPr lang="en-US" sz="850" dirty="0"/>
          </a:p>
        </p:txBody>
      </p:sp>
      <p:sp>
        <p:nvSpPr>
          <p:cNvPr id="48" name="Slide Number Placeholder 0">
            <a:extLst>
              <a:ext uri="{FF2B5EF4-FFF2-40B4-BE49-F238E27FC236}">
                <a16:creationId xmlns:a16="http://schemas.microsoft.com/office/drawing/2014/main" id="{22928792-56EE-DE35-07ED-8C021E41D61C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2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47E988-0908-036B-1455-F49B5EE4CE02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&amp; Technical Design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F15766-5E67-710C-418E-D286CF23B3CA}"/>
              </a:ext>
            </a:extLst>
          </p:cNvPr>
          <p:cNvSpPr/>
          <p:nvPr/>
        </p:nvSpPr>
        <p:spPr>
          <a:xfrm>
            <a:off x="475488" y="65836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Show the main components, data flow and engineering choices.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D5086C-A368-C401-F126-E27B82EBD8AF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0:55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FEEAEA4-6F1C-DA0D-70AF-1CD9E57D94C8}"/>
              </a:ext>
            </a:extLst>
          </p:cNvPr>
          <p:cNvSpPr/>
          <p:nvPr/>
        </p:nvSpPr>
        <p:spPr>
          <a:xfrm>
            <a:off x="621792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EAF7FD"/>
          </a:solidFill>
          <a:ln w="17780">
            <a:solidFill>
              <a:srgbClr val="007CC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937AE1-9B9B-9199-A76E-B2B37B6D9BD0}"/>
              </a:ext>
            </a:extLst>
          </p:cNvPr>
          <p:cNvSpPr/>
          <p:nvPr/>
        </p:nvSpPr>
        <p:spPr>
          <a:xfrm>
            <a:off x="749808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CC3"/>
                </a:solidFill>
              </a:rPr>
              <a:t>USER / DEVICE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A228E3-0982-1FE1-33B3-FA931D03B8FF}"/>
              </a:ext>
            </a:extLst>
          </p:cNvPr>
          <p:cNvSpPr/>
          <p:nvPr/>
        </p:nvSpPr>
        <p:spPr>
          <a:xfrm>
            <a:off x="786384" y="1993392"/>
            <a:ext cx="195681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The user enters meeting notes or transcript text through a simple web interface.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3D498E-63CB-4C98-5544-33DE014B29A8}"/>
              </a:ext>
            </a:extLst>
          </p:cNvPr>
          <p:cNvSpPr/>
          <p:nvPr/>
        </p:nvSpPr>
        <p:spPr>
          <a:xfrm>
            <a:off x="2935224" y="1993392"/>
            <a:ext cx="329184" cy="493776"/>
          </a:xfrm>
          <a:prstGeom prst="chevron">
            <a:avLst/>
          </a:prstGeom>
          <a:solidFill>
            <a:srgbClr val="B8C6D1"/>
          </a:solidFill>
          <a:ln w="12700">
            <a:solidFill>
              <a:srgbClr val="B8C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D5C12AC-8141-3434-DBF6-FE60CE10DF80}"/>
              </a:ext>
            </a:extLst>
          </p:cNvPr>
          <p:cNvSpPr/>
          <p:nvPr/>
        </p:nvSpPr>
        <p:spPr>
          <a:xfrm>
            <a:off x="3401568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F3EEFC"/>
          </a:solidFill>
          <a:ln w="17780">
            <a:solidFill>
              <a:srgbClr val="5417A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952A89-57D4-EF0E-8424-40B83474870A}"/>
              </a:ext>
            </a:extLst>
          </p:cNvPr>
          <p:cNvSpPr/>
          <p:nvPr/>
        </p:nvSpPr>
        <p:spPr>
          <a:xfrm>
            <a:off x="3529584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17A8"/>
                </a:solidFill>
              </a:rPr>
              <a:t>APPLICATION / LOGIC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23AB16-A827-ACE5-2090-A44128AEECB2}"/>
              </a:ext>
            </a:extLst>
          </p:cNvPr>
          <p:cNvSpPr/>
          <p:nvPr/>
        </p:nvSpPr>
        <p:spPr>
          <a:xfrm>
            <a:off x="3566160" y="1993392"/>
            <a:ext cx="195681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Input validation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AI processing workflow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82C82C2-6F8D-2406-03EB-0A5055A55007}"/>
              </a:ext>
            </a:extLst>
          </p:cNvPr>
          <p:cNvSpPr/>
          <p:nvPr/>
        </p:nvSpPr>
        <p:spPr>
          <a:xfrm>
            <a:off x="5715000" y="1993392"/>
            <a:ext cx="329184" cy="493776"/>
          </a:xfrm>
          <a:prstGeom prst="chevron">
            <a:avLst/>
          </a:prstGeom>
          <a:solidFill>
            <a:srgbClr val="B8C6D1"/>
          </a:solidFill>
          <a:ln w="12700">
            <a:solidFill>
              <a:srgbClr val="B8C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0E4247D-E843-275C-B984-C763628E6E99}"/>
              </a:ext>
            </a:extLst>
          </p:cNvPr>
          <p:cNvSpPr/>
          <p:nvPr/>
        </p:nvSpPr>
        <p:spPr>
          <a:xfrm>
            <a:off x="6181344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FFF4E8"/>
          </a:solidFill>
          <a:ln w="17780">
            <a:solidFill>
              <a:srgbClr val="F28C2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A6340B7-0679-B082-38AB-44282D46E4BD}"/>
              </a:ext>
            </a:extLst>
          </p:cNvPr>
          <p:cNvSpPr/>
          <p:nvPr/>
        </p:nvSpPr>
        <p:spPr>
          <a:xfrm>
            <a:off x="6309360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AI / DATA LAYER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95BF9EA-54C5-31AA-4435-03439C09D40B}"/>
              </a:ext>
            </a:extLst>
          </p:cNvPr>
          <p:cNvSpPr/>
          <p:nvPr/>
        </p:nvSpPr>
        <p:spPr>
          <a:xfrm>
            <a:off x="6208776" y="1984248"/>
            <a:ext cx="209397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Qualcomm Cloud AI Playground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LLM-based text analysis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C59F95-BE2E-2797-4BC0-17ADDD25224B}"/>
              </a:ext>
            </a:extLst>
          </p:cNvPr>
          <p:cNvSpPr/>
          <p:nvPr/>
        </p:nvSpPr>
        <p:spPr>
          <a:xfrm>
            <a:off x="8494776" y="1993392"/>
            <a:ext cx="329184" cy="493776"/>
          </a:xfrm>
          <a:prstGeom prst="chevron">
            <a:avLst/>
          </a:prstGeom>
          <a:solidFill>
            <a:srgbClr val="B8C6D1"/>
          </a:solidFill>
          <a:ln w="12700">
            <a:solidFill>
              <a:srgbClr val="B8C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EB9165A-67EC-3178-70D8-9B83A33FDD1D}"/>
              </a:ext>
            </a:extLst>
          </p:cNvPr>
          <p:cNvSpPr/>
          <p:nvPr/>
        </p:nvSpPr>
        <p:spPr>
          <a:xfrm>
            <a:off x="8961120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EFF7E9"/>
          </a:solidFill>
          <a:ln w="17780">
            <a:solidFill>
              <a:srgbClr val="63A84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46464D4-1CD6-AB8D-F6AB-D7C4C45C1DEB}"/>
              </a:ext>
            </a:extLst>
          </p:cNvPr>
          <p:cNvSpPr/>
          <p:nvPr/>
        </p:nvSpPr>
        <p:spPr>
          <a:xfrm>
            <a:off x="9089136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A845"/>
                </a:solidFill>
              </a:rPr>
              <a:t>OUTPUT / ACTION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5D073B-EE1E-AEE6-1073-30E6B79695C0}"/>
              </a:ext>
            </a:extLst>
          </p:cNvPr>
          <p:cNvSpPr/>
          <p:nvPr/>
        </p:nvSpPr>
        <p:spPr>
          <a:xfrm>
            <a:off x="9070848" y="1993392"/>
            <a:ext cx="213969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Meeting summary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Action items and deadlines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Risk alerts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F9CAB70-B337-8320-AFC5-CB6BAACB78ED}"/>
              </a:ext>
            </a:extLst>
          </p:cNvPr>
          <p:cNvSpPr/>
          <p:nvPr/>
        </p:nvSpPr>
        <p:spPr>
          <a:xfrm>
            <a:off x="621792" y="3456432"/>
            <a:ext cx="36758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A828D5-1EA1-FFC3-C801-53E2D08CFAA6}"/>
              </a:ext>
            </a:extLst>
          </p:cNvPr>
          <p:cNvSpPr/>
          <p:nvPr/>
        </p:nvSpPr>
        <p:spPr>
          <a:xfrm>
            <a:off x="786384" y="358444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TECHNOLOGY CHOICES</a:t>
            </a:r>
            <a:endParaRPr lang="en-US" sz="8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6E0F82F-940E-8150-FFD0-CB54E47DDFCE}"/>
              </a:ext>
            </a:extLst>
          </p:cNvPr>
          <p:cNvSpPr/>
          <p:nvPr/>
        </p:nvSpPr>
        <p:spPr>
          <a:xfrm>
            <a:off x="786384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HTML, CSS, JavaScript, Qualcomm Cloud AI Playground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7F13FAB-C1EC-0177-82D2-F896E864A152}"/>
              </a:ext>
            </a:extLst>
          </p:cNvPr>
          <p:cNvSpPr/>
          <p:nvPr/>
        </p:nvSpPr>
        <p:spPr>
          <a:xfrm>
            <a:off x="4480560" y="3456432"/>
            <a:ext cx="36758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CC225F5-C44D-CE5D-5355-896FEC671C71}"/>
              </a:ext>
            </a:extLst>
          </p:cNvPr>
          <p:cNvSpPr/>
          <p:nvPr/>
        </p:nvSpPr>
        <p:spPr>
          <a:xfrm>
            <a:off x="4645152" y="358444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ENGINEERING RATIONALE</a:t>
            </a:r>
            <a:endParaRPr lang="en-US" sz="8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2B0562F-A937-0D7F-DB67-97891BB9E2A5}"/>
              </a:ext>
            </a:extLst>
          </p:cNvPr>
          <p:cNvSpPr/>
          <p:nvPr/>
        </p:nvSpPr>
        <p:spPr>
          <a:xfrm>
            <a:off x="4645152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Simple web interface with AI-powered text extraction.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15A366A-1EE2-88F4-56F2-42C078164B5E}"/>
              </a:ext>
            </a:extLst>
          </p:cNvPr>
          <p:cNvSpPr/>
          <p:nvPr/>
        </p:nvSpPr>
        <p:spPr>
          <a:xfrm>
            <a:off x="8339328" y="3456432"/>
            <a:ext cx="287121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6686840-71C6-A9F9-75E4-170B0B1182B6}"/>
              </a:ext>
            </a:extLst>
          </p:cNvPr>
          <p:cNvSpPr/>
          <p:nvPr/>
        </p:nvSpPr>
        <p:spPr>
          <a:xfrm>
            <a:off x="8503920" y="358444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63A845"/>
                </a:solidFill>
              </a:rPr>
              <a:t>VALIDATION / RELIABILITY</a:t>
            </a:r>
            <a:endParaRPr lang="en-US" sz="8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CB37CB-C380-2D9F-165F-2A8122EB8261}"/>
              </a:ext>
            </a:extLst>
          </p:cNvPr>
          <p:cNvSpPr/>
          <p:nvPr/>
        </p:nvSpPr>
        <p:spPr>
          <a:xfrm>
            <a:off x="8503920" y="3849624"/>
            <a:ext cx="2542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Test sample notes, verify extracted tasks, and flag missing information.</a:t>
            </a:r>
          </a:p>
        </p:txBody>
      </p:sp>
      <p:sp>
        <p:nvSpPr>
          <p:cNvPr id="35" name="Slide Number Placeholder 0">
            <a:extLst>
              <a:ext uri="{FF2B5EF4-FFF2-40B4-BE49-F238E27FC236}">
                <a16:creationId xmlns:a16="http://schemas.microsoft.com/office/drawing/2014/main" id="{F7E2D82D-0BB9-C325-982D-2E558A022841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0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083E88-70F7-CA62-AE05-4BFEBB0BFC2C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Usage &amp; Innovation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7B73A9-2566-B743-B014-B875767223F0}"/>
              </a:ext>
            </a:extLst>
          </p:cNvPr>
          <p:cNvSpPr/>
          <p:nvPr/>
        </p:nvSpPr>
        <p:spPr>
          <a:xfrm>
            <a:off x="475488" y="65836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Demonstrate meaningful AI use, not AI added only for appearance.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5C909D-A0E0-EA5E-27F8-6FE7B4FC5003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0:45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0320BF-4576-44DC-008E-7170FC5D54B6}"/>
              </a:ext>
            </a:extLst>
          </p:cNvPr>
          <p:cNvSpPr/>
          <p:nvPr/>
        </p:nvSpPr>
        <p:spPr>
          <a:xfrm>
            <a:off x="548640" y="1097280"/>
            <a:ext cx="65653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1FA962-3E84-81BE-E032-5CA447B1776D}"/>
              </a:ext>
            </a:extLst>
          </p:cNvPr>
          <p:cNvSpPr/>
          <p:nvPr/>
        </p:nvSpPr>
        <p:spPr>
          <a:xfrm>
            <a:off x="713232" y="1225296"/>
            <a:ext cx="6236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AI CAPABILITY USED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77DE1A-2424-E361-E905-AE829023E9C0}"/>
              </a:ext>
            </a:extLst>
          </p:cNvPr>
          <p:cNvSpPr/>
          <p:nvPr/>
        </p:nvSpPr>
        <p:spPr>
          <a:xfrm>
            <a:off x="713232" y="1389888"/>
            <a:ext cx="623620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r>
              <a:rPr lang="en-IN" sz="2000" dirty="0"/>
              <a:t>Large Language Model (LLM) for natural-language understanding, text summarization, and structured information extraction.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DE2606D-4FB8-66AE-31AE-BBCD9ED07D14}"/>
              </a:ext>
            </a:extLst>
          </p:cNvPr>
          <p:cNvSpPr/>
          <p:nvPr/>
        </p:nvSpPr>
        <p:spPr>
          <a:xfrm>
            <a:off x="7333488" y="1097280"/>
            <a:ext cx="4041648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A39E1F4-7B4A-2571-33FD-03D81EE95CD4}"/>
              </a:ext>
            </a:extLst>
          </p:cNvPr>
          <p:cNvSpPr/>
          <p:nvPr/>
        </p:nvSpPr>
        <p:spPr>
          <a:xfrm>
            <a:off x="7498080" y="122529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INNOVATION / DIFFERENTIATION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0AF57C-9B6F-28FF-2071-1C1D8F02182C}"/>
              </a:ext>
            </a:extLst>
          </p:cNvPr>
          <p:cNvSpPr/>
          <p:nvPr/>
        </p:nvSpPr>
        <p:spPr>
          <a:xfrm>
            <a:off x="7498080" y="1371600"/>
            <a:ext cx="3767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lang="en-IN" sz="1200" dirty="0"/>
              <a:t>combines meeting summarization, decision extraction, action-item identification, deadline detection, and risk flagging in one workflow.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5D3005-099E-9478-831C-E9C6F3ABC6F4}"/>
              </a:ext>
            </a:extLst>
          </p:cNvPr>
          <p:cNvSpPr/>
          <p:nvPr/>
        </p:nvSpPr>
        <p:spPr>
          <a:xfrm>
            <a:off x="548640" y="2194560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EAF7FD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1BDEBF7-3C23-C854-55C0-A36818548845}"/>
              </a:ext>
            </a:extLst>
          </p:cNvPr>
          <p:cNvSpPr/>
          <p:nvPr/>
        </p:nvSpPr>
        <p:spPr>
          <a:xfrm>
            <a:off x="731520" y="23591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07CC3"/>
                </a:solidFill>
              </a:rPr>
              <a:t>AI ROLE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136FE3-12A6-3BAF-937A-81862D7B9BF5}"/>
              </a:ext>
            </a:extLst>
          </p:cNvPr>
          <p:cNvSpPr/>
          <p:nvPr/>
        </p:nvSpPr>
        <p:spPr>
          <a:xfrm>
            <a:off x="1517904" y="2249424"/>
            <a:ext cx="4297680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Generate concise meeting summaries.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Identify key decisions.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Extract tasks and responsibilities.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Identify deadlines stated in the notes.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Highlight unclear tasks and missing information.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541D1A-B196-3DE4-651B-3E516AF80947}"/>
              </a:ext>
            </a:extLst>
          </p:cNvPr>
          <p:cNvSpPr/>
          <p:nvPr/>
        </p:nvSpPr>
        <p:spPr>
          <a:xfrm>
            <a:off x="6126480" y="2194560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F3EEFC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C81BA97-A912-BF86-22A9-6DEE773C8CEE}"/>
              </a:ext>
            </a:extLst>
          </p:cNvPr>
          <p:cNvSpPr/>
          <p:nvPr/>
        </p:nvSpPr>
        <p:spPr>
          <a:xfrm>
            <a:off x="6309360" y="23591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417A8"/>
                </a:solidFill>
              </a:rPr>
              <a:t>INPUT &amp; MODEL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9921B6C-8162-664F-1834-EEB6928463BF}"/>
              </a:ext>
            </a:extLst>
          </p:cNvPr>
          <p:cNvSpPr/>
          <p:nvPr/>
        </p:nvSpPr>
        <p:spPr>
          <a:xfrm>
            <a:off x="7699248" y="2322576"/>
            <a:ext cx="3566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Meeting notes or transcript text are processed using an AI model available through Qualcomm Cloud AI Playground.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4A2DD8C-DD2D-F12D-5910-ED29B2FE1A09}"/>
              </a:ext>
            </a:extLst>
          </p:cNvPr>
          <p:cNvSpPr/>
          <p:nvPr/>
        </p:nvSpPr>
        <p:spPr>
          <a:xfrm>
            <a:off x="548640" y="3493008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FFF4E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749330-EA34-2AA5-7965-13FB7F9D9286}"/>
              </a:ext>
            </a:extLst>
          </p:cNvPr>
          <p:cNvSpPr/>
          <p:nvPr/>
        </p:nvSpPr>
        <p:spPr>
          <a:xfrm>
            <a:off x="731520" y="365760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28C28"/>
                </a:solidFill>
              </a:rPr>
              <a:t>QUALITY CHECK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5B06EA-D753-EFE8-671F-C1F733EB2D2F}"/>
              </a:ext>
            </a:extLst>
          </p:cNvPr>
          <p:cNvSpPr/>
          <p:nvPr/>
        </p:nvSpPr>
        <p:spPr>
          <a:xfrm>
            <a:off x="2042140" y="3520440"/>
            <a:ext cx="36454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Compare outputs with the source notes.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Preserve the meaning of the original discussion.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Mark unspecified owners and deadlines clearly.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Require human review before acting on generated tasks.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1ED7539-4D80-3DA4-A54B-371DE4CBE611}"/>
              </a:ext>
            </a:extLst>
          </p:cNvPr>
          <p:cNvSpPr/>
          <p:nvPr/>
        </p:nvSpPr>
        <p:spPr>
          <a:xfrm>
            <a:off x="6126480" y="3493008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EFF7E9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C18B500-DD37-72C7-18AF-26BF71E98CBE}"/>
              </a:ext>
            </a:extLst>
          </p:cNvPr>
          <p:cNvSpPr/>
          <p:nvPr/>
        </p:nvSpPr>
        <p:spPr>
          <a:xfrm>
            <a:off x="6309360" y="365760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3A845"/>
                </a:solidFill>
              </a:rPr>
              <a:t>VALUE CREATED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C326B15-E05A-C924-5A52-BFA9E79A0C76}"/>
              </a:ext>
            </a:extLst>
          </p:cNvPr>
          <p:cNvSpPr/>
          <p:nvPr/>
        </p:nvSpPr>
        <p:spPr>
          <a:xfrm>
            <a:off x="7644384" y="3424653"/>
            <a:ext cx="3621024" cy="11016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Reduces manual effort.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Improves task visibility.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Supports better accountability.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Makes meeting outcomes easier to understand.</a:t>
            </a:r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1D029A2C-F19C-3F02-3469-DD4D706D2B00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1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BDF586-71D9-9229-8097-D3089FBBF03E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Enhancements, Scalability &amp; Security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51ECCD-D428-5559-65E2-C0C33FD0C25F}"/>
              </a:ext>
            </a:extLst>
          </p:cNvPr>
          <p:cNvSpPr/>
          <p:nvPr/>
        </p:nvSpPr>
        <p:spPr>
          <a:xfrm>
            <a:off x="475488" y="65836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Present a credible next-step roadmap and the safeguards considered.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62B695-A59D-0E83-5A72-834BAD7DB910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0:35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49828B3-3E97-5779-FD97-F886A6DE30C8}"/>
              </a:ext>
            </a:extLst>
          </p:cNvPr>
          <p:cNvSpPr/>
          <p:nvPr/>
        </p:nvSpPr>
        <p:spPr>
          <a:xfrm>
            <a:off x="548640" y="1234440"/>
            <a:ext cx="3328416" cy="3328416"/>
          </a:xfrm>
          <a:prstGeom prst="roundRect">
            <a:avLst>
              <a:gd name="adj" fmla="val 1374"/>
            </a:avLst>
          </a:prstGeom>
          <a:solidFill>
            <a:srgbClr val="EAF7FD"/>
          </a:solidFill>
          <a:ln w="15240">
            <a:solidFill>
              <a:srgbClr val="007CC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8A0B38-3599-241D-D380-A5865C95561F}"/>
              </a:ext>
            </a:extLst>
          </p:cNvPr>
          <p:cNvSpPr/>
          <p:nvPr/>
        </p:nvSpPr>
        <p:spPr>
          <a:xfrm>
            <a:off x="731520" y="1517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CC3"/>
                </a:solidFill>
              </a:rPr>
              <a:t>NEXT ENHANCEMENTS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58F033-E8D4-7743-A174-24673F83D777}"/>
              </a:ext>
            </a:extLst>
          </p:cNvPr>
          <p:cNvSpPr/>
          <p:nvPr/>
        </p:nvSpPr>
        <p:spPr>
          <a:xfrm>
            <a:off x="804672" y="2057400"/>
            <a:ext cx="274320" cy="274320"/>
          </a:xfrm>
          <a:prstGeom prst="ellipse">
            <a:avLst/>
          </a:prstGeom>
          <a:solidFill>
            <a:srgbClr val="007CC3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2CF532-F321-8AB0-4FF1-868F2FDD3AC5}"/>
              </a:ext>
            </a:extLst>
          </p:cNvPr>
          <p:cNvSpPr/>
          <p:nvPr/>
        </p:nvSpPr>
        <p:spPr>
          <a:xfrm>
            <a:off x="804672" y="21214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FA2070-0FA7-9D97-2294-792BC7D0BDE6}"/>
              </a:ext>
            </a:extLst>
          </p:cNvPr>
          <p:cNvSpPr/>
          <p:nvPr/>
        </p:nvSpPr>
        <p:spPr>
          <a:xfrm>
            <a:off x="1207008" y="2011680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Add editable action items and task-priority assignment.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27D180F-D477-4BC2-3F0E-A4EA83FB1589}"/>
              </a:ext>
            </a:extLst>
          </p:cNvPr>
          <p:cNvSpPr/>
          <p:nvPr/>
        </p:nvSpPr>
        <p:spPr>
          <a:xfrm>
            <a:off x="804672" y="2807208"/>
            <a:ext cx="274320" cy="274320"/>
          </a:xfrm>
          <a:prstGeom prst="ellipse">
            <a:avLst/>
          </a:prstGeom>
          <a:solidFill>
            <a:srgbClr val="007CC3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525CE00-3D5D-EF85-EB7B-867AB4B90E52}"/>
              </a:ext>
            </a:extLst>
          </p:cNvPr>
          <p:cNvSpPr/>
          <p:nvPr/>
        </p:nvSpPr>
        <p:spPr>
          <a:xfrm>
            <a:off x="804672" y="2871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1BE36D-EE88-F1E9-0499-5B9B0311F210}"/>
              </a:ext>
            </a:extLst>
          </p:cNvPr>
          <p:cNvSpPr/>
          <p:nvPr/>
        </p:nvSpPr>
        <p:spPr>
          <a:xfrm>
            <a:off x="1207008" y="2761488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Integrate meeting transcript and calendar tools.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1B5BA5-3D31-80F2-D1B6-892A4751A9B6}"/>
              </a:ext>
            </a:extLst>
          </p:cNvPr>
          <p:cNvSpPr/>
          <p:nvPr/>
        </p:nvSpPr>
        <p:spPr>
          <a:xfrm>
            <a:off x="804672" y="3557016"/>
            <a:ext cx="274320" cy="274320"/>
          </a:xfrm>
          <a:prstGeom prst="ellipse">
            <a:avLst/>
          </a:prstGeom>
          <a:solidFill>
            <a:srgbClr val="007CC3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A98EE9-B47D-4B49-68F4-3D402C378950}"/>
              </a:ext>
            </a:extLst>
          </p:cNvPr>
          <p:cNvSpPr/>
          <p:nvPr/>
        </p:nvSpPr>
        <p:spPr>
          <a:xfrm>
            <a:off x="804672" y="36210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0CD5BC-E538-5142-7305-AF217EE7C750}"/>
              </a:ext>
            </a:extLst>
          </p:cNvPr>
          <p:cNvSpPr/>
          <p:nvPr/>
        </p:nvSpPr>
        <p:spPr>
          <a:xfrm>
            <a:off x="1207008" y="3511296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Support multiple languages and improve accessibility.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123D4AD-F615-C37C-E8D3-5A919619C21C}"/>
              </a:ext>
            </a:extLst>
          </p:cNvPr>
          <p:cNvSpPr/>
          <p:nvPr/>
        </p:nvSpPr>
        <p:spPr>
          <a:xfrm>
            <a:off x="4315968" y="1234440"/>
            <a:ext cx="3328416" cy="3328416"/>
          </a:xfrm>
          <a:prstGeom prst="roundRect">
            <a:avLst>
              <a:gd name="adj" fmla="val 1374"/>
            </a:avLst>
          </a:prstGeom>
          <a:solidFill>
            <a:srgbClr val="EFF7E9"/>
          </a:solidFill>
          <a:ln w="15240">
            <a:solidFill>
              <a:srgbClr val="63A84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8B694E-A30A-0B8A-FD8E-5860BD997613}"/>
              </a:ext>
            </a:extLst>
          </p:cNvPr>
          <p:cNvSpPr/>
          <p:nvPr/>
        </p:nvSpPr>
        <p:spPr>
          <a:xfrm>
            <a:off x="4498848" y="1517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A845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6A46235-D561-ADBD-C4A3-3924B3265365}"/>
              </a:ext>
            </a:extLst>
          </p:cNvPr>
          <p:cNvSpPr/>
          <p:nvPr/>
        </p:nvSpPr>
        <p:spPr>
          <a:xfrm>
            <a:off x="4572000" y="2057400"/>
            <a:ext cx="274320" cy="274320"/>
          </a:xfrm>
          <a:prstGeom prst="ellipse">
            <a:avLst/>
          </a:prstGeom>
          <a:solidFill>
            <a:srgbClr val="63A845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BD2492-C85F-DFD2-77A4-140CA990A449}"/>
              </a:ext>
            </a:extLst>
          </p:cNvPr>
          <p:cNvSpPr/>
          <p:nvPr/>
        </p:nvSpPr>
        <p:spPr>
          <a:xfrm>
            <a:off x="4572000" y="21214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23C4A3-AF7A-BCF9-4C79-B65B8C93B5BF}"/>
              </a:ext>
            </a:extLst>
          </p:cNvPr>
          <p:cNvSpPr/>
          <p:nvPr/>
        </p:nvSpPr>
        <p:spPr>
          <a:xfrm>
            <a:off x="4974336" y="2011680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Support multiple teams and larger volumes of meeting notes.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01F56B0-A693-A209-E08F-D159EC9E6AA5}"/>
              </a:ext>
            </a:extLst>
          </p:cNvPr>
          <p:cNvSpPr/>
          <p:nvPr/>
        </p:nvSpPr>
        <p:spPr>
          <a:xfrm>
            <a:off x="4572000" y="2807208"/>
            <a:ext cx="274320" cy="274320"/>
          </a:xfrm>
          <a:prstGeom prst="ellipse">
            <a:avLst/>
          </a:prstGeom>
          <a:solidFill>
            <a:srgbClr val="63A845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74A77C-A71A-25BF-B7CB-E507D3F09840}"/>
              </a:ext>
            </a:extLst>
          </p:cNvPr>
          <p:cNvSpPr/>
          <p:nvPr/>
        </p:nvSpPr>
        <p:spPr>
          <a:xfrm>
            <a:off x="4572000" y="2871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59797C0-B1E9-1A06-FEAC-1BB1DF00DF40}"/>
              </a:ext>
            </a:extLst>
          </p:cNvPr>
          <p:cNvSpPr/>
          <p:nvPr/>
        </p:nvSpPr>
        <p:spPr>
          <a:xfrm>
            <a:off x="4974336" y="2761488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Improve processing speed and AI integration.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AA083A2-F0E1-5E36-65CB-1205E57A4789}"/>
              </a:ext>
            </a:extLst>
          </p:cNvPr>
          <p:cNvSpPr/>
          <p:nvPr/>
        </p:nvSpPr>
        <p:spPr>
          <a:xfrm>
            <a:off x="4572000" y="3557016"/>
            <a:ext cx="274320" cy="274320"/>
          </a:xfrm>
          <a:prstGeom prst="ellipse">
            <a:avLst/>
          </a:prstGeom>
          <a:solidFill>
            <a:srgbClr val="63A845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55E400B-0DA7-FB30-AE56-027037CBC9EE}"/>
              </a:ext>
            </a:extLst>
          </p:cNvPr>
          <p:cNvSpPr/>
          <p:nvPr/>
        </p:nvSpPr>
        <p:spPr>
          <a:xfrm>
            <a:off x="4572000" y="36210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808832-6AE1-4B46-E1CA-A2D73E9E145C}"/>
              </a:ext>
            </a:extLst>
          </p:cNvPr>
          <p:cNvSpPr/>
          <p:nvPr/>
        </p:nvSpPr>
        <p:spPr>
          <a:xfrm>
            <a:off x="4974336" y="3511296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Add monitoring, error handling, and usage tracking.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4175C34-82E2-05B7-4850-C3D50815A80A}"/>
              </a:ext>
            </a:extLst>
          </p:cNvPr>
          <p:cNvSpPr/>
          <p:nvPr/>
        </p:nvSpPr>
        <p:spPr>
          <a:xfrm>
            <a:off x="8083296" y="1234440"/>
            <a:ext cx="3328416" cy="3328416"/>
          </a:xfrm>
          <a:prstGeom prst="roundRect">
            <a:avLst>
              <a:gd name="adj" fmla="val 1374"/>
            </a:avLst>
          </a:prstGeom>
          <a:solidFill>
            <a:srgbClr val="F3EEFC"/>
          </a:solidFill>
          <a:ln w="15240">
            <a:solidFill>
              <a:srgbClr val="5417A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7E5A850-037C-C666-5AFF-114DA39F882E}"/>
              </a:ext>
            </a:extLst>
          </p:cNvPr>
          <p:cNvSpPr/>
          <p:nvPr/>
        </p:nvSpPr>
        <p:spPr>
          <a:xfrm>
            <a:off x="8266176" y="1517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17A8"/>
                </a:solidFill>
              </a:rPr>
              <a:t>SECURITY &amp; RESPONSIBLE AI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72EF5A6-F6FE-D75C-601C-909357D3363E}"/>
              </a:ext>
            </a:extLst>
          </p:cNvPr>
          <p:cNvSpPr/>
          <p:nvPr/>
        </p:nvSpPr>
        <p:spPr>
          <a:xfrm>
            <a:off x="8339328" y="2057400"/>
            <a:ext cx="274320" cy="274320"/>
          </a:xfrm>
          <a:prstGeom prst="ellipse">
            <a:avLst/>
          </a:prstGeom>
          <a:solidFill>
            <a:srgbClr val="5417A8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0D54195-A988-4B53-E7FE-B97E5A03DAEF}"/>
              </a:ext>
            </a:extLst>
          </p:cNvPr>
          <p:cNvSpPr/>
          <p:nvPr/>
        </p:nvSpPr>
        <p:spPr>
          <a:xfrm>
            <a:off x="8339328" y="21214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DF6954F-1764-9F3A-7337-4A8FAACE97CB}"/>
              </a:ext>
            </a:extLst>
          </p:cNvPr>
          <p:cNvSpPr/>
          <p:nvPr/>
        </p:nvSpPr>
        <p:spPr>
          <a:xfrm>
            <a:off x="8741664" y="2011680"/>
            <a:ext cx="230032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Introduce authentication and access control.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78230A6-A314-ECB7-1463-1135EBCEA2EC}"/>
              </a:ext>
            </a:extLst>
          </p:cNvPr>
          <p:cNvSpPr/>
          <p:nvPr/>
        </p:nvSpPr>
        <p:spPr>
          <a:xfrm>
            <a:off x="8339328" y="2807208"/>
            <a:ext cx="274320" cy="274320"/>
          </a:xfrm>
          <a:prstGeom prst="ellipse">
            <a:avLst/>
          </a:prstGeom>
          <a:solidFill>
            <a:srgbClr val="5417A8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9156590-143F-3B3B-FF3A-C1648DD71AED}"/>
              </a:ext>
            </a:extLst>
          </p:cNvPr>
          <p:cNvSpPr/>
          <p:nvPr/>
        </p:nvSpPr>
        <p:spPr>
          <a:xfrm>
            <a:off x="8339328" y="2871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EE7A8D7-660E-8C1F-2A72-0B99BDA4970B}"/>
              </a:ext>
            </a:extLst>
          </p:cNvPr>
          <p:cNvSpPr/>
          <p:nvPr/>
        </p:nvSpPr>
        <p:spPr>
          <a:xfrm>
            <a:off x="8741664" y="2761488"/>
            <a:ext cx="23591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Protect meeting notes and minimize unnecessary data storage.</a:t>
            </a: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7D38FEE-337E-80C6-824A-B6C1C06ACFE3}"/>
              </a:ext>
            </a:extLst>
          </p:cNvPr>
          <p:cNvSpPr/>
          <p:nvPr/>
        </p:nvSpPr>
        <p:spPr>
          <a:xfrm>
            <a:off x="8339328" y="3557016"/>
            <a:ext cx="274320" cy="274320"/>
          </a:xfrm>
          <a:prstGeom prst="ellipse">
            <a:avLst/>
          </a:prstGeom>
          <a:solidFill>
            <a:srgbClr val="5417A8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29D6E21-2C3E-4C29-D882-BDBE35D311A2}"/>
              </a:ext>
            </a:extLst>
          </p:cNvPr>
          <p:cNvSpPr/>
          <p:nvPr/>
        </p:nvSpPr>
        <p:spPr>
          <a:xfrm>
            <a:off x="8339328" y="36210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4E8A2C8-E883-48F1-9F5D-E38C087D7F5B}"/>
              </a:ext>
            </a:extLst>
          </p:cNvPr>
          <p:cNvSpPr/>
          <p:nvPr/>
        </p:nvSpPr>
        <p:spPr>
          <a:xfrm>
            <a:off x="8741664" y="3511296"/>
            <a:ext cx="248716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1200" dirty="0"/>
              <a:t>Clearly flag uncertain information and retain human review of AI-generated outputs.</a:t>
            </a:r>
          </a:p>
        </p:txBody>
      </p: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0506221D-ED44-2465-649A-FB3BBE3BC509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733</Words>
  <Application>Microsoft Office PowerPoint</Application>
  <PresentationFormat>Widescreen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Infosys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Hack-AI-Thon Student Briefing</dc:title>
  <dc:subject>Infosys ENG NEXT 2026 Hack-AI-Thon student briefing</dc:subject>
  <dc:creator>Venkat Kandhari</dc:creator>
  <cp:lastModifiedBy>saiharish2255@outlook.com</cp:lastModifiedBy>
  <cp:revision>5</cp:revision>
  <dcterms:created xsi:type="dcterms:W3CDTF">2026-09-27T06:06:02Z</dcterms:created>
  <dcterms:modified xsi:type="dcterms:W3CDTF">2026-10-14T03:55:11Z</dcterms:modified>
</cp:coreProperties>
</file>